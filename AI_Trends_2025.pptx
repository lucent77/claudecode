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371600" y="4572000"/>
            <a:ext cx="2743200" cy="27432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</a:defRPr>
            </a:pPr>
            <a:r>
              <a:t>AI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6366F1"/>
                </a:solidFill>
              </a:defRPr>
            </a:pPr>
            <a:r>
              <a:t>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94A3B8"/>
                </a:solidFill>
              </a:defRPr>
            </a:pPr>
            <a:r>
              <a:t>인공지능이 바꾸는 비즈니스의 미래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977639"/>
            <a:ext cx="18288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CONTENTS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64008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1887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t>생성형 AI의 진화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20"/>
            <a:ext cx="640080" cy="50292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4767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t>멀티모달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51760"/>
            <a:ext cx="640080" cy="5029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2491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7432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t>AI 에이전트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29000"/>
            <a:ext cx="640080" cy="5029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50215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52044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t>엣지 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06240"/>
            <a:ext cx="64008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27939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976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t>AI 규제와 윤리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83480"/>
            <a:ext cx="640080" cy="5029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05663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0749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t>산업별 AI 적용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760720"/>
            <a:ext cx="64008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83387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852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t>미래 전망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457200"/>
            <a:ext cx="45720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8000" b="1">
                <a:solidFill>
                  <a:srgbClr val="1E293B"/>
                </a:solidFill>
              </a:defRPr>
            </a:pPr>
            <a: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926080"/>
            <a:ext cx="7315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5CF6"/>
                </a:solidFill>
              </a:defRPr>
            </a:pPr>
            <a:r>
              <a:t>SECTION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6400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생성형 AI의 진화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B5CF6"/>
                </a:solidFill>
              </a:defRPr>
            </a:pPr>
            <a:r>
              <a:t>SECTION 01 · 생성형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804672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810512"/>
            <a:ext cx="320040" cy="3200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4708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7830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GPT-4, Claude, Gemini 등 대형 언어모델(LLM)의 지속적 발전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14600"/>
            <a:ext cx="804672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2770632"/>
            <a:ext cx="320040" cy="3200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0720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4320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텍스트, 이미지, 비디오, 음악 등 다양한 콘텐츠 자동 생성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74720"/>
            <a:ext cx="804672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3730752"/>
            <a:ext cx="320040" cy="3200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6732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70332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코드 생성 및 소프트웨어 개발 프로세스 자동화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434840"/>
            <a:ext cx="804672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" y="4690872"/>
            <a:ext cx="320040" cy="3200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72744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66344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RAG 기술을 통한 정확도와 신뢰성 향상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94960"/>
            <a:ext cx="804672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77240" y="5650992"/>
            <a:ext cx="320040" cy="3200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68756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6235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기업 맞춤형 Private LLM 솔루션 확대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457200"/>
            <a:ext cx="45720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8000" b="1">
                <a:solidFill>
                  <a:srgbClr val="1E293B"/>
                </a:solidFill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926080"/>
            <a:ext cx="73152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C4899"/>
                </a:solidFill>
              </a:defRPr>
            </a:pPr>
            <a:r>
              <a:t>SECTION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6400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멀티모달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C4899"/>
                </a:solidFill>
              </a:defRPr>
            </a:pPr>
            <a:r>
              <a:t>SECTION 02 · 멀티모달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Multimodal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804672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810512"/>
            <a:ext cx="320040" cy="3200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4708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7830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텍스트 + 이미지 + 음성 + 비디오 통합 처리 능력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14600"/>
            <a:ext cx="804672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2770632"/>
            <a:ext cx="320040" cy="3200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0720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4320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자연스러운 인간-AI 상호작용 인터페이스 구현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74720"/>
            <a:ext cx="804672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3730752"/>
            <a:ext cx="320040" cy="3200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6732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70332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실시간 다국어 번역 및 통역 서비스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434840"/>
            <a:ext cx="804672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" y="4690872"/>
            <a:ext cx="320040" cy="3200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72744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66344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의료 영상 분석과 진단 보조 시스템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94960"/>
            <a:ext cx="804672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77240" y="5650992"/>
            <a:ext cx="320040" cy="3200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68756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6235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자율주행 및 로보틱스 분야의 인지 능력 향상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457200"/>
            <a:ext cx="45720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8000" b="1">
                <a:solidFill>
                  <a:srgbClr val="1E293B"/>
                </a:solidFill>
              </a:defRPr>
            </a:pPr>
            <a: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926080"/>
            <a:ext cx="73152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SECTION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6400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AI 에이전트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SECTION 03 · AI 에이전트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Agentic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804672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810512"/>
            <a:ext cx="320040" cy="3200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4708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7830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자율적으로 목표를 설정하고 작업을 계획·실행하는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14600"/>
            <a:ext cx="804672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2770632"/>
            <a:ext cx="320040" cy="3200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0720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4320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복잡한 비즈니스 프로세스의 End-to-End 자동화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74720"/>
            <a:ext cx="804672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3730752"/>
            <a:ext cx="320040" cy="3200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6732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70332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웹 브라우징, 파일 관리, 코딩 등 다양한 태스크 수행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434840"/>
            <a:ext cx="804672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" y="4690872"/>
            <a:ext cx="320040" cy="3200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72744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66344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인간과 AI의 협업 기반 하이브리드 워크플로우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94960"/>
            <a:ext cx="804672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77240" y="5650992"/>
            <a:ext cx="320040" cy="3200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68756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6235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2025년 가장 주목받는 AI 기술 트렌드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457200"/>
            <a:ext cx="45720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8000" b="1">
                <a:solidFill>
                  <a:srgbClr val="1E293B"/>
                </a:solidFill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926080"/>
            <a:ext cx="73152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B8A6"/>
                </a:solidFill>
              </a:defRPr>
            </a:pPr>
            <a:r>
              <a:t>SECTION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6400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엣지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B8A6"/>
                </a:solidFill>
              </a:defRPr>
            </a:pPr>
            <a:r>
              <a:t>SECTION 04 · 엣지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Edge AI &amp; On-Device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804672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810512"/>
            <a:ext cx="320040" cy="32004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4708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7830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스마트폰, IoT 디바이스에서 직접 AI 모델 실행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14600"/>
            <a:ext cx="804672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2770632"/>
            <a:ext cx="320040" cy="32004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0720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4320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클라우드 의존도 감소로 프라이버시 및 보안 강화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74720"/>
            <a:ext cx="804672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3730752"/>
            <a:ext cx="320040" cy="32004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6732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70332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초저지연 실시간 처리로 사용자 경험 향상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434840"/>
            <a:ext cx="804672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" y="4690872"/>
            <a:ext cx="320040" cy="32004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72744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66344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Apple Intelligence, Google Gemini Nano 등 상용화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94960"/>
            <a:ext cx="804672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77240" y="5650992"/>
            <a:ext cx="320040" cy="32004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68756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6235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소형 언어모델(SLM)의 효율성 및 성능 발전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457200"/>
            <a:ext cx="45720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8000" b="1">
                <a:solidFill>
                  <a:srgbClr val="1E293B"/>
                </a:solidFill>
              </a:defRPr>
            </a:pPr>
            <a: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926080"/>
            <a:ext cx="7315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SECTION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6400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AI 규제와 윤리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SECTION 05 · AI 규제와 윤리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 Governance &amp; Ethics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804672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810512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4708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7830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EU AI Act 본격 시행 - 리스크 기반 규제 프레임워크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14600"/>
            <a:ext cx="804672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2770632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0720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4320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AI 시스템의 투명성 및 설명가능성(XAI) 요구 증가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74720"/>
            <a:ext cx="804672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3730752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6732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70332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딥페이크, 허위정보 대응을 위한 기술적·제도적 장치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434840"/>
            <a:ext cx="804672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" y="4690872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72744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66344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AI 저작권 및 지적재산권 관련 법적 논의 활발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94960"/>
            <a:ext cx="804672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77240" y="5650992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68756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6235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Responsible AI 프레임워크 도입 확산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457200"/>
            <a:ext cx="45720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8000" b="1">
                <a:solidFill>
                  <a:srgbClr val="1E293B"/>
                </a:solidFill>
              </a:defRPr>
            </a:pPr>
            <a: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926080"/>
            <a:ext cx="7315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SECTION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6400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산업별 AI 적용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2C55E"/>
                </a:solidFill>
              </a:defRPr>
            </a:pPr>
            <a:r>
              <a:t>SECTION 06 · 산업별 AI 적용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Industry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C55E"/>
                </a:solidFill>
              </a:defRPr>
            </a:pPr>
            <a:r>
              <a:t>Healthcare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E2E8F0"/>
                </a:solidFill>
              </a:defRPr>
            </a:pPr>
            <a:r>
              <a:t>신약 개발 가속화, AI 진단 보조,</a:t>
            </a:r>
            <a:br/>
            <a:r>
              <a:t>개인 맞춤형 정밀 치료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C55E"/>
                </a:solidFill>
              </a:defRPr>
            </a:pPr>
            <a:r>
              <a:t>Finance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E2E8F0"/>
                </a:solidFill>
              </a:defRPr>
            </a:pPr>
            <a:r>
              <a:t>실시간 사기 탐지, 리스크 관리,</a:t>
            </a:r>
            <a:br/>
            <a:r>
              <a:t>AI 기반 로보어드바이저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06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C55E"/>
                </a:solidFill>
              </a:defRPr>
            </a:pPr>
            <a:r>
              <a:t>Manufacturing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720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E2E8F0"/>
                </a:solidFill>
              </a:defRPr>
            </a:pPr>
            <a:r>
              <a:t>예측 정비, 품질 검사 자동화,</a:t>
            </a:r>
            <a:br/>
            <a:r>
              <a:t>스마트 팩토리 구현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645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C55E"/>
                </a:solidFill>
              </a:defRPr>
            </a:pPr>
            <a:r>
              <a:t>Education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01168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E2E8F0"/>
                </a:solidFill>
              </a:defRPr>
            </a:pPr>
            <a:r>
              <a:t>적응형 학습 시스템, AI 튜터,</a:t>
            </a:r>
            <a:br/>
            <a:r>
              <a:t>자동 평가 및 피드백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9260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C55E"/>
                </a:solidFill>
              </a:defRPr>
            </a:pPr>
            <a:r>
              <a:t>Retail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2918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E2E8F0"/>
                </a:solidFill>
              </a:defRPr>
            </a:pPr>
            <a:r>
              <a:t>초개인화 추천, 수요 예측,</a:t>
            </a:r>
            <a:br/>
            <a:r>
              <a:t>AI 고객 서비스 챗봇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206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C55E"/>
                </a:solidFill>
              </a:defRPr>
            </a:pPr>
            <a:r>
              <a:t>Logistics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57200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E2E8F0"/>
                </a:solidFill>
              </a:defRPr>
            </a:pPr>
            <a:r>
              <a:t>경로 최적화, 자율 배송,</a:t>
            </a:r>
            <a:br/>
            <a:r>
              <a:t>스마트 창고 관리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457200"/>
            <a:ext cx="45720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8000" b="1">
                <a:solidFill>
                  <a:srgbClr val="1E293B"/>
                </a:solidFill>
              </a:defRPr>
            </a:pPr>
            <a: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926080"/>
            <a:ext cx="73152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SECTION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6400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미래 전망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366F1"/>
                </a:solidFill>
              </a:defRPr>
            </a:pPr>
            <a:r>
              <a:t>SECTION 07 · 미래 전망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Future Outlook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804672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810512"/>
            <a:ext cx="320040" cy="32004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4708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7830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AGI(범용 인공지능)를 향한 지속적인 연구 개발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14600"/>
            <a:ext cx="804672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2770632"/>
            <a:ext cx="320040" cy="32004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0720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4320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AI와 인간의 공존을 위한 협력 모델 정립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74720"/>
            <a:ext cx="804672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3730752"/>
            <a:ext cx="320040" cy="32004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6732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70332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AI로 인한 새로운 직업 창출과 기존 직무의 재정의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434840"/>
            <a:ext cx="804672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" y="4690872"/>
            <a:ext cx="320040" cy="32004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72744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66344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AI 민주화 - 누구나 AI를 쉽게 활용하는 시대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94960"/>
            <a:ext cx="804672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77240" y="5650992"/>
            <a:ext cx="320040" cy="32004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68756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6235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Green AI - 에너지 효율적인 지속가능한 AI 개발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43600" y="4114800"/>
            <a:ext cx="3657600" cy="36576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366F1"/>
                </a:solidFill>
              </a:defRPr>
            </a:pPr>
            <a:r>
              <a:t>AI Trends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840480"/>
            <a:ext cx="13716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The Future is Intelligent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